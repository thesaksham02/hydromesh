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8" name="Shape 6"/>
          <p:cNvSpPr/>
          <p:nvPr/>
        </p:nvSpPr>
        <p:spPr>
          <a:xfrm>
            <a:off x="585216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57200"/>
            <a:ext cx="9144000" cy="13716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463040"/>
            <a:ext cx="9144000" cy="13716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468880"/>
            <a:ext cx="9144000" cy="13716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3474720"/>
            <a:ext cx="9144000" cy="13716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480560"/>
            <a:ext cx="9144000" cy="13716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097280"/>
            <a:ext cx="2194560" cy="1645920"/>
          </a:xfrm>
          <a:prstGeom prst="ellipse">
            <a:avLst/>
          </a:prstGeom>
          <a:solidFill>
            <a:srgbClr val="00C6A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2560320"/>
            <a:ext cx="1463040" cy="1097280"/>
          </a:xfrm>
          <a:prstGeom prst="ellipse">
            <a:avLst/>
          </a:prstGeom>
          <a:solidFill>
            <a:srgbClr val="FFB703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2344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HydroMesh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48640" y="19202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Street-level flood intelligence for safer cities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reports + climate data  →  faster local 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1417320"/>
            <a:ext cx="1874520" cy="2880360"/>
          </a:xfrm>
          <a:prstGeom prst="roundRect">
            <a:avLst>
              <a:gd name="adj" fmla="val 8780"/>
            </a:avLst>
          </a:prstGeom>
          <a:solidFill>
            <a:srgbClr val="132A4A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9164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5800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report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03720" y="26060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A3355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2651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Knee-deep water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St · Just now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03720" y="324612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00C6A7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report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58000" y="37947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 · SOS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41605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Outlaws  ·  University of Birmingham  ·  SDG 11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4663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hydromesh.vercel.app  ·  github.com/theSaksham02/Hydromesh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floods change by the minute,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alerts are not enough.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SITUATION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305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warnings, no street-level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7432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1635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reports from residents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5021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Responders lack a unified operational view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709160" y="132588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CONSEQUENCE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9834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44068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travel decisions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9834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44068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emergency response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98348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44068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exposure for vulnerable residents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 need local information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they can take local action.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6916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reports are fragmented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Residents, responders, and agencies use different channels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vary street by street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road upstream can be deadly downstream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5160" y="16916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74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operational picture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is slow and reactive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HydroMesh turns community observations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actionable flood intelligence.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240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Geo-tagged, timestamped,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icon-based flood reports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65176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141732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0B1F3A"/>
          </a:solidFill>
          <a:ln/>
        </p:spPr>
      </p:sp>
      <p:sp>
        <p:nvSpPr>
          <p:cNvPr id="12" name="Text 8"/>
          <p:cNvSpPr/>
          <p:nvPr/>
        </p:nvSpPr>
        <p:spPr>
          <a:xfrm>
            <a:off x="356616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51960" y="2057400"/>
            <a:ext cx="777240" cy="777240"/>
          </a:xfrm>
          <a:prstGeom prst="ellipse">
            <a:avLst/>
          </a:prstGeom>
          <a:solidFill>
            <a:srgbClr val="14345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402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52044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validation + weather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elevation data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65176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141732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4F6F8"/>
          </a:solidFill>
          <a:ln/>
        </p:spPr>
      </p:sp>
      <p:sp>
        <p:nvSpPr>
          <p:cNvPr id="19" name="Text 13"/>
          <p:cNvSpPr/>
          <p:nvPr/>
        </p:nvSpPr>
        <p:spPr>
          <a:xfrm>
            <a:off x="644652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132320" y="2057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2402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6400800" y="3520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routes, alerts,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emergency requests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event. Two views. Faster coordination.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71600"/>
            <a:ext cx="4023360" cy="2286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15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mobile app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E6FAF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flooding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E6FAF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2588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risk map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E6FAF6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safe route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E6FAF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SOS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09160" y="96012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960120"/>
            <a:ext cx="4023360" cy="640080"/>
          </a:xfrm>
          <a:prstGeom prst="roundRect">
            <a:avLst>
              <a:gd name="adj" fmla="val 17143"/>
            </a:avLst>
          </a:prstGeom>
          <a:solidFill>
            <a:srgbClr val="00C6A7"/>
          </a:solidFill>
          <a:ln/>
        </p:spPr>
      </p:sp>
      <p:sp>
        <p:nvSpPr>
          <p:cNvPr id="23" name="Shape 20"/>
          <p:cNvSpPr/>
          <p:nvPr/>
        </p:nvSpPr>
        <p:spPr>
          <a:xfrm>
            <a:off x="4709160" y="1371600"/>
            <a:ext cx="4023360" cy="228600"/>
          </a:xfrm>
          <a:prstGeom prst="rect">
            <a:avLst/>
          </a:prstGeom>
          <a:solidFill>
            <a:srgbClr val="00C6A7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15568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94960" y="1115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dashboard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029200" y="1874520"/>
            <a:ext cx="411480" cy="4114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62356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reports on map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029200" y="2514600"/>
            <a:ext cx="411480" cy="4114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62356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hazard zones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5029200" y="3154680"/>
            <a:ext cx="411480" cy="4114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3" name="Text 29"/>
          <p:cNvSpPr/>
          <p:nvPr/>
        </p:nvSpPr>
        <p:spPr>
          <a:xfrm>
            <a:off x="5029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562356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requests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5029200" y="3794760"/>
            <a:ext cx="411480" cy="4114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2"/>
          <p:cNvSpPr/>
          <p:nvPr/>
        </p:nvSpPr>
        <p:spPr>
          <a:xfrm>
            <a:off x="5029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562356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response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street report to an operational response.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3840480" cy="320040"/>
          </a:xfrm>
          <a:prstGeom prst="roundRect">
            <a:avLst>
              <a:gd name="adj" fmla="val 22857"/>
            </a:avLst>
          </a:prstGeom>
          <a:solidFill>
            <a:srgbClr val="FFF6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49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Simulated flood conditions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reports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knee-deep water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269748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84832" y="137160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2587752" y="16459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58775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76272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176272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Geolocated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697480"/>
            <a:ext cx="182880" cy="182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849624" y="137160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/>
        </p:spPr>
      </p:sp>
      <p:sp>
        <p:nvSpPr>
          <p:cNvPr id="19" name="Shape 15"/>
          <p:cNvSpPr/>
          <p:nvPr/>
        </p:nvSpPr>
        <p:spPr>
          <a:xfrm>
            <a:off x="4352544" y="1645920"/>
            <a:ext cx="640080" cy="640080"/>
          </a:xfrm>
          <a:prstGeom prst="ellipse">
            <a:avLst/>
          </a:prstGeom>
          <a:solidFill>
            <a:srgbClr val="00C6A7"/>
          </a:solidFill>
          <a:ln/>
        </p:spPr>
      </p:sp>
      <p:sp>
        <p:nvSpPr>
          <p:cNvPr id="20" name="Text 16"/>
          <p:cNvSpPr/>
          <p:nvPr/>
        </p:nvSpPr>
        <p:spPr>
          <a:xfrm>
            <a:off x="435254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3941064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3941064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live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697480"/>
            <a:ext cx="182880" cy="1828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614416" y="137160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25" name="Shape 20"/>
          <p:cNvSpPr/>
          <p:nvPr/>
        </p:nvSpPr>
        <p:spPr>
          <a:xfrm>
            <a:off x="6117336" y="16459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1"/>
          <p:cNvSpPr/>
          <p:nvPr/>
        </p:nvSpPr>
        <p:spPr>
          <a:xfrm>
            <a:off x="6117336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5705856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5705856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route avoids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road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2697480"/>
            <a:ext cx="182880" cy="18288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79208" y="1371600"/>
            <a:ext cx="1645920" cy="310896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</p:sp>
      <p:sp>
        <p:nvSpPr>
          <p:cNvPr id="31" name="Shape 25"/>
          <p:cNvSpPr/>
          <p:nvPr/>
        </p:nvSpPr>
        <p:spPr>
          <a:xfrm>
            <a:off x="7882128" y="16459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6"/>
          <p:cNvSpPr/>
          <p:nvPr/>
        </p:nvSpPr>
        <p:spPr>
          <a:xfrm>
            <a:off x="788212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7470648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470648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responders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architecture connects people,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and decisions.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515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097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05156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097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19659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API  ·  Express  ·  Socket.io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265176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0C6A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processing  ·  Validation  ·  OSRM routing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mobile app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397764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· Node.js · Express · Socket.io · PostgreSQL/PostGIS · OSRM · Open-Meteo · Render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prototype is complete and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controlled testing.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reporting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116128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C6A7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11612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18013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C6A7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8013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31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244144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C6A7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4414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718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63240" y="308152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C6A7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3081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/ help requests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63240" y="372160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C6A7"/>
          </a:solidFill>
          <a:ln/>
        </p:spPr>
      </p:sp>
      <p:sp>
        <p:nvSpPr>
          <p:cNvPr id="23" name="Text 21"/>
          <p:cNvSpPr/>
          <p:nvPr/>
        </p:nvSpPr>
        <p:spPr>
          <a:xfrm>
            <a:off x="3063240" y="37216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0515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integration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116128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0C6A7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1612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69164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6916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dashboard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06640" y="18013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B703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8013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33172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331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forecasting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06640" y="244144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24414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97180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29718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/ news layer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06640" y="308152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30815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6118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4F6F8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6118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resource allocation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06640" y="372160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94A3B8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37216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validated the system as an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academic prototype.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4630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Distinction-grade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383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Birmingham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4630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FII–MIT competition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97480" y="3383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final rounds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international challenge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18872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49240" y="14630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 UN fellowship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92040" y="3383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recognition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climate resilience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49440" y="118872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16200000">
              <a:srgbClr val="0B1F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43800" y="1463040"/>
            <a:ext cx="822960" cy="822960"/>
          </a:xfrm>
          <a:prstGeom prst="ellipse">
            <a:avLst/>
          </a:prstGeom>
          <a:solidFill>
            <a:srgbClr val="E6FA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6459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GitHub commits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86600" y="3383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prototype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pilot partners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logos shown only with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layer is decision support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municipal teams.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60720" y="27432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FFF6E0"/>
          </a:solidFill>
          <a:ln/>
        </p:spPr>
      </p:sp>
      <p:sp>
        <p:nvSpPr>
          <p:cNvPr id="5" name="Text 3"/>
          <p:cNvSpPr/>
          <p:nvPr/>
        </p:nvSpPr>
        <p:spPr>
          <a:xfrm>
            <a:off x="5806440" y="2926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R&amp;D — not yet deployed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flood map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0876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weather, sensors,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roads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1508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45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85216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short-horizon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estimates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3291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signal monitoring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08760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sentiment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800600" y="288036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4F6F8"/>
          </a:solidFill>
          <a:ln/>
        </p:spPr>
      </p:sp>
      <p:sp>
        <p:nvSpPr>
          <p:cNvPr id="22" name="Shape 17"/>
          <p:cNvSpPr/>
          <p:nvPr/>
        </p:nvSpPr>
        <p:spPr>
          <a:xfrm>
            <a:off x="5029200" y="3291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4290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521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planning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852160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Incidents, resources,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shelters, routes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looking for one city or institutional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to validate HydroMesh in practice.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data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setup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0515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234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1691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onboarding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configuration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event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95160" y="105156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2344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7–8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16916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report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KPIs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3832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→ map update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3832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3832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generation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33832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33832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acknowledgement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False-alert 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time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move from validated prototype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real-world pilot.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32A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agency, NGO,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university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32A4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support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validation,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expertise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13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infrastructure,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HydroMesh makes flood intelligence local, actionable, and accessible.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sxm2114@student.bham.ac.uk  ·  github.com/theSaksham02/Hydromesh  ·  hydromesh.vercel.app</a:t>
            </a:r>
            <a:endParaRPr lang="en-US" sz="1200" dirty="0"/>
          </a:p>
        </p:txBody>
      </p:sp>
      <p:pic>
        <p:nvPicPr>
          <p:cNvPr id="18" name="Image 0" descr="/Users/sakshammishra/Hydromesh/pitch-deck/qr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160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Operational Regional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274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“Our team brings lived and regional insight from flood-vulnerable communities across Asia and Africa. We are beginning validation through focused local partnerships.”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Saksham Mishra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&amp; System Architect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Lead &amp; India Validation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single stable Flutter/Node.js release, verifies zero-latency caching, curates demo data, and secures first municipal partner in Indian monsoon catchments.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188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4173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Shaazia Raziq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468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Modeling &amp; Africa-Region Lead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3154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PostGIS spatial density clustering (ST_ClusterDBSCAN) and hazard polygons; identifies realistic African NGO partners to tailor local drainage workflows.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417320"/>
            <a:ext cx="685800" cy="6858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Adham Khashan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4688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Reliability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Resilience &amp; UAE Ecosystem Lead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3154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Spearheads blackout BLE mesh verification, failover disaster protocols, UAE university research partnerships, and climate resilience fellowship and grant funding.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and AI models for future forecasting.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 ·  Research phase — planned integration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2.6M flood events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weather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reports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live 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71800" y="26060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encoder–decoder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338328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00C6A7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flood risk forecast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research integration — not in current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8" name="Shape 6"/>
          <p:cNvSpPr/>
          <p:nvPr/>
        </p:nvSpPr>
        <p:spPr>
          <a:xfrm>
            <a:off x="585216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0" y="0"/>
            <a:ext cx="13716" cy="5143500"/>
          </a:xfrm>
          <a:prstGeom prst="rect">
            <a:avLst/>
          </a:prstGeom>
          <a:solidFill>
            <a:srgbClr val="14345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731520"/>
            <a:ext cx="2011680" cy="1463040"/>
          </a:xfrm>
          <a:prstGeom prst="ellipse">
            <a:avLst/>
          </a:prstGeom>
          <a:solidFill>
            <a:srgbClr val="00C6A7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  <p:pic>
        <p:nvPicPr>
          <p:cNvPr id="14" name="Image 0" descr="/Users/sakshammishra/Hydromesh/pitch-deck/qr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331720"/>
            <a:ext cx="1828800" cy="1828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3796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hydromesh.vercel.app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sxm2114@student.bham.ac.uk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github.com/theSaksham02/Hydromesh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hydromesh.vercel.app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Outlaws  ·  University of Birmingham  ·  SDG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HydroMesh — Street-level flood intelligence</dc:title>
  <dc:subject>Investor / academic pitch deck</dc:subject>
  <dc:creator>Output Outlaws | HydroMesh</dc:creator>
  <cp:lastModifiedBy>Output Outlaws | HydroMesh</cp:lastModifiedBy>
  <cp:revision>1</cp:revision>
  <dcterms:created xsi:type="dcterms:W3CDTF">2026-09-04T16:27:22Z</dcterms:created>
  <dcterms:modified xsi:type="dcterms:W3CDTF">2026-09-04T16:27:22Z</dcterms:modified>
</cp:coreProperties>
</file>